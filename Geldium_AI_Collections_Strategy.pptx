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1" r:id="rId6"/>
    <p:sldId id="262" r:id="rId7"/>
  </p:sldIdLst>
  <p:sldSz cx="9144000" cy="5143500" type="screen16x9"/>
  <p:notesSz cx="6858000" cy="9144000"/>
  <p:embeddedFontLst>
    <p:embeddedFont>
      <p:font typeface="Roboto" panose="02000000000000000000" pitchFamily="2" charset="0"/>
      <p:regular r:id="rId9"/>
      <p:bold r:id="rId10"/>
      <p:italic r:id="rId11"/>
      <p:boldItalic r:id="rId12"/>
    </p:embeddedFont>
    <p:embeddedFont>
      <p:font typeface="Roboto Slab" pitchFamily="2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408"/>
  </p:normalViewPr>
  <p:slideViewPr>
    <p:cSldViewPr snapToGrid="0">
      <p:cViewPr varScale="1">
        <p:scale>
          <a:sx n="132" d="100"/>
          <a:sy n="132" d="100"/>
        </p:scale>
        <p:origin x="94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Relationship Id="rId14" Type="http://schemas.openxmlformats.org/officeDocument/2006/relationships/font" Target="fonts/font6.fntdata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Explain how agentic AI could automate financial collections while keeping humans in critical decision points.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examples of collection actions, and classify each as best suited for full automation or requiring human oversight, with a brief reason why.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key fairness, transparency, and compliance practices to build into an AI-powered credit collections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specific ways to monitor and audit the system over time to ensure it stays fair, compliant, and effective.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KPIs for an AI-powered collections strategy that balances business outcomes with customer fairness.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Describe 2–3 ways an AI collections system could improve both operational efficiency and customer experience.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rPr sz="3400" b="1">
                <a:solidFill>
                  <a:srgbClr val="162D4A"/>
                </a:solidFill>
                <a:latin typeface="Aptos Display"/>
              </a:rPr>
              <a:t>AI-Powered Collections Strategy</a:t>
            </a:r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/>
          </a:bodyPr>
          <a:lstStyle/>
          <a:p>
            <a:r>
              <a:rPr sz="1700">
                <a:solidFill>
                  <a:srgbClr val="5B6B79"/>
                </a:solidFill>
                <a:latin typeface="Aptos"/>
              </a:rPr>
              <a:t>A responsible, human-centred approach to earlier support and better collections outcomes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691640" y="5074920"/>
            <a:ext cx="1828800" cy="292608"/>
          </a:xfrm>
          <a:prstGeom prst="roundRect">
            <a:avLst/>
          </a:prstGeom>
          <a:solidFill>
            <a:srgbClr val="008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719072" y="5106924"/>
            <a:ext cx="1773936" cy="210312"/>
          </a:xfrm>
          <a:prstGeom prst="rect">
            <a:avLst/>
          </a:prstGeom>
          <a:noFill/>
        </p:spPr>
        <p:txBody>
          <a:bodyPr wrap="square" lIns="36576" rIns="36576" tIns="27432" bIns="18288" anchor="ctr">
            <a:spAutoFit/>
          </a:bodyPr>
          <a:lstStyle/>
          <a:p>
            <a:pPr algn="ctr">
              <a:spcAft>
                <a:spcPts val="40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EXECUTIVE BRIEFING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691640" y="5532120"/>
            <a:ext cx="6400800" cy="3200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5B6B79"/>
                </a:solidFill>
                <a:latin typeface="Aptos"/>
              </a:defRPr>
            </a:pPr>
            <a:r>
              <a:t>Geldium  |  Concept proposal  |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502920" y="256032"/>
            <a:ext cx="11064240" cy="59436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rPr sz="2700" b="1">
                <a:solidFill>
                  <a:srgbClr val="162D4A"/>
                </a:solidFill>
                <a:latin typeface="Aptos Display"/>
              </a:rPr>
              <a:t>How the System Works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30352" y="932688"/>
            <a:ext cx="713232" cy="54864"/>
          </a:xfrm>
          <a:prstGeom prst="rect">
            <a:avLst/>
          </a:prstGeom>
          <a:solidFill>
            <a:srgbClr val="008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30352" y="1024128"/>
            <a:ext cx="10972800" cy="3200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5B6B79"/>
                </a:solidFill>
                <a:latin typeface="Aptos"/>
              </a:defRPr>
            </a:pPr>
            <a:r>
              <a:t>A closed-loop workflow: use verified, pre-outcome data to recommend proportionate support.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30352" y="1828800"/>
            <a:ext cx="2395728" cy="2971800"/>
          </a:xfrm>
          <a:prstGeom prst="roundRect">
            <a:avLst/>
          </a:prstGeom>
          <a:solidFill>
            <a:srgbClr val="DDF3EF"/>
          </a:solidFill>
          <a:ln w="10160"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30352" y="1865376"/>
            <a:ext cx="64008" cy="2898648"/>
          </a:xfrm>
          <a:prstGeom prst="rect">
            <a:avLst/>
          </a:prstGeom>
          <a:solidFill>
            <a:srgbClr val="008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94944" y="1956816"/>
            <a:ext cx="2103120" cy="310896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62D4A"/>
                </a:solidFill>
                <a:latin typeface="Aptos"/>
              </a:defRPr>
            </a:pPr>
            <a:r>
              <a:t>01  INPUTS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4944" y="2331720"/>
            <a:ext cx="2103120" cy="239572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2A3642"/>
                </a:solidFill>
                <a:latin typeface="Aptos"/>
              </a:defRPr>
            </a:pPr>
            <a:r>
              <a:t>• Repayment history and missed-payment trends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2A3642"/>
                </a:solidFill>
                <a:latin typeface="Aptos"/>
              </a:defRPr>
            </a:pPr>
            <a:r>
              <a:t>• Credit utilization, loan balance, debt-to-income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2A3642"/>
                </a:solidFill>
                <a:latin typeface="Aptos"/>
              </a:defRPr>
            </a:pPr>
            <a:r>
              <a:t>• Data-quality flags and approved contact preferences</a:t>
            </a:r>
          </a:p>
        </p:txBody>
      </p:sp>
      <p:sp>
        <p:nvSpPr>
          <p:cNvPr id="76" name="Chevron 75"/>
          <p:cNvSpPr/>
          <p:nvPr/>
        </p:nvSpPr>
        <p:spPr>
          <a:xfrm>
            <a:off x="3017520" y="2953512"/>
            <a:ext cx="347472" cy="475488"/>
          </a:xfrm>
          <a:prstGeom prst="chevron">
            <a:avLst/>
          </a:prstGeom>
          <a:solidFill>
            <a:srgbClr val="DE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456432" y="1828800"/>
            <a:ext cx="2395728" cy="297180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456432" y="1865376"/>
            <a:ext cx="64008" cy="2898648"/>
          </a:xfrm>
          <a:prstGeom prst="rect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621024" y="1956816"/>
            <a:ext cx="2103120" cy="310896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62D4A"/>
                </a:solidFill>
                <a:latin typeface="Aptos"/>
              </a:defRPr>
            </a:pPr>
            <a:r>
              <a:t>02  DECIDE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621024" y="2331720"/>
            <a:ext cx="2103120" cy="239572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2A3642"/>
                </a:solidFill>
                <a:latin typeface="Aptos"/>
              </a:defRPr>
            </a:pPr>
            <a:r>
              <a:t>• Combine validated rules with a calibrated risk score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2A3642"/>
                </a:solidFill>
                <a:latin typeface="Aptos"/>
              </a:defRPr>
            </a:pPr>
            <a:r>
              <a:t>• Prioritize by risk, urgency and support eligibility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2A3642"/>
                </a:solidFill>
                <a:latin typeface="Aptos"/>
              </a:defRPr>
            </a:pPr>
            <a:r>
              <a:t>• Use only information available at decision time</a:t>
            </a:r>
          </a:p>
        </p:txBody>
      </p:sp>
      <p:sp>
        <p:nvSpPr>
          <p:cNvPr id="81" name="Chevron 80"/>
          <p:cNvSpPr/>
          <p:nvPr/>
        </p:nvSpPr>
        <p:spPr>
          <a:xfrm>
            <a:off x="5943600" y="2953512"/>
            <a:ext cx="347472" cy="475488"/>
          </a:xfrm>
          <a:prstGeom prst="chevron">
            <a:avLst/>
          </a:prstGeom>
          <a:solidFill>
            <a:srgbClr val="DE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6382512" y="1828800"/>
            <a:ext cx="2395728" cy="2971800"/>
          </a:xfrm>
          <a:prstGeom prst="roundRect">
            <a:avLst/>
          </a:prstGeom>
          <a:solidFill>
            <a:srgbClr val="FCF7EB"/>
          </a:solidFill>
          <a:ln w="10160"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382512" y="1865376"/>
            <a:ext cx="64008" cy="2898648"/>
          </a:xfrm>
          <a:prstGeom prst="rect">
            <a:avLst/>
          </a:prstGeom>
          <a:solidFill>
            <a:srgbClr val="E7A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547104" y="1956816"/>
            <a:ext cx="2103120" cy="310896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62D4A"/>
                </a:solidFill>
                <a:latin typeface="Aptos"/>
              </a:defRPr>
            </a:pPr>
            <a:r>
              <a:t>03  ACT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547104" y="2331720"/>
            <a:ext cx="2103120" cy="239572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2A3642"/>
                </a:solidFill>
                <a:latin typeface="Aptos"/>
              </a:defRPr>
            </a:pPr>
            <a:r>
              <a:t>• Send approved reminders through preferred channels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2A3642"/>
                </a:solidFill>
                <a:latin typeface="Aptos"/>
              </a:defRPr>
            </a:pPr>
            <a:r>
              <a:t>• Offer self-service options and supportive guidance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2A3642"/>
                </a:solidFill>
                <a:latin typeface="Aptos"/>
              </a:defRPr>
            </a:pPr>
            <a:r>
              <a:t>• Route hardship or complex cases to trained staff</a:t>
            </a:r>
          </a:p>
        </p:txBody>
      </p:sp>
      <p:sp>
        <p:nvSpPr>
          <p:cNvPr id="86" name="Chevron 85"/>
          <p:cNvSpPr/>
          <p:nvPr/>
        </p:nvSpPr>
        <p:spPr>
          <a:xfrm>
            <a:off x="8869680" y="2953512"/>
            <a:ext cx="347472" cy="475488"/>
          </a:xfrm>
          <a:prstGeom prst="chevron">
            <a:avLst/>
          </a:prstGeom>
          <a:solidFill>
            <a:srgbClr val="DE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9308592" y="1828800"/>
            <a:ext cx="2395728" cy="2971800"/>
          </a:xfrm>
          <a:prstGeom prst="roundRect">
            <a:avLst/>
          </a:prstGeom>
          <a:solidFill>
            <a:srgbClr val="FAF0EE"/>
          </a:solidFill>
          <a:ln w="10160"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308592" y="1865376"/>
            <a:ext cx="64008" cy="2898648"/>
          </a:xfrm>
          <a:prstGeom prst="rect">
            <a:avLst/>
          </a:prstGeom>
          <a:solidFill>
            <a:srgbClr val="C5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473184" y="1956816"/>
            <a:ext cx="2103120" cy="310896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62D4A"/>
                </a:solidFill>
                <a:latin typeface="Aptos"/>
              </a:defRPr>
            </a:pPr>
            <a:r>
              <a:t>04  LEARN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473184" y="2331720"/>
            <a:ext cx="2103120" cy="239572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2A3642"/>
                </a:solidFill>
                <a:latin typeface="Aptos"/>
              </a:defRPr>
            </a:pPr>
            <a:r>
              <a:t>• Track repayment, engagement and complaints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2A3642"/>
                </a:solidFill>
                <a:latin typeface="Aptos"/>
              </a:defRPr>
            </a:pPr>
            <a:r>
              <a:t>• Monitor drift, calibration and group-level outcomes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2A3642"/>
                </a:solidFill>
                <a:latin typeface="Aptos"/>
              </a:defRPr>
            </a:pPr>
            <a:r>
              <a:t>• Retrain or revise only after review and approval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21792" y="5074920"/>
            <a:ext cx="10881360" cy="62179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62D4A"/>
                </a:solidFill>
                <a:latin typeface="Aptos"/>
              </a:defRPr>
            </a:pPr>
            <a:r>
              <a:t>Decision principle: a score informs the next best supportive action; it does not automatically determine adverse treatment.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21792" y="5806440"/>
            <a:ext cx="1691640" cy="292608"/>
          </a:xfrm>
          <a:prstGeom prst="roundRect">
            <a:avLst/>
          </a:prstGeom>
          <a:solidFill>
            <a:srgbClr val="008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49224" y="5838444"/>
            <a:ext cx="1636776" cy="210312"/>
          </a:xfrm>
          <a:prstGeom prst="rect">
            <a:avLst/>
          </a:prstGeom>
          <a:noFill/>
        </p:spPr>
        <p:txBody>
          <a:bodyPr wrap="square" lIns="36576" rIns="36576" tIns="27432" bIns="18288" anchor="ctr">
            <a:spAutoFit/>
          </a:bodyPr>
          <a:lstStyle/>
          <a:p>
            <a:pPr algn="ctr">
              <a:spcAft>
                <a:spcPts val="40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HUMAN-APPROVED RULES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2450592" y="5806440"/>
            <a:ext cx="1572768" cy="292608"/>
          </a:xfrm>
          <a:prstGeom prst="roundRect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478024" y="5838444"/>
            <a:ext cx="1517904" cy="210312"/>
          </a:xfrm>
          <a:prstGeom prst="rect">
            <a:avLst/>
          </a:prstGeom>
          <a:noFill/>
        </p:spPr>
        <p:txBody>
          <a:bodyPr wrap="square" lIns="36576" rIns="36576" tIns="27432" bIns="18288" anchor="ctr">
            <a:spAutoFit/>
          </a:bodyPr>
          <a:lstStyle/>
          <a:p>
            <a:pPr algn="ctr">
              <a:spcAft>
                <a:spcPts val="40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PRIVACY BY DESIGN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4160520" y="5806440"/>
            <a:ext cx="1691640" cy="292608"/>
          </a:xfrm>
          <a:prstGeom prst="roundRect">
            <a:avLst/>
          </a:prstGeom>
          <a:solidFill>
            <a:srgbClr val="008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187952" y="5838444"/>
            <a:ext cx="1636776" cy="210312"/>
          </a:xfrm>
          <a:prstGeom prst="rect">
            <a:avLst/>
          </a:prstGeom>
          <a:noFill/>
        </p:spPr>
        <p:txBody>
          <a:bodyPr wrap="square" lIns="36576" rIns="36576" tIns="27432" bIns="18288" anchor="ctr">
            <a:spAutoFit/>
          </a:bodyPr>
          <a:lstStyle/>
          <a:p>
            <a:pPr algn="ctr">
              <a:spcAft>
                <a:spcPts val="40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MONITORED OUTCOMES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561320" y="6510528"/>
            <a:ext cx="914400" cy="16459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r">
              <a:spcAft>
                <a:spcPts val="400"/>
              </a:spcAft>
              <a:defRPr sz="800" b="1">
                <a:solidFill>
                  <a:srgbClr val="5B6B79"/>
                </a:solidFill>
                <a:latin typeface="Aptos"/>
              </a:defRPr>
            </a:pPr>
            <a:r>
              <a:t>GELDIUM  •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502920" y="256032"/>
            <a:ext cx="11064240" cy="59436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rPr sz="2700" b="1">
                <a:solidFill>
                  <a:srgbClr val="162D4A"/>
                </a:solidFill>
                <a:latin typeface="Aptos Display"/>
              </a:rPr>
              <a:t>Role of Agentic AI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30352" y="932688"/>
            <a:ext cx="713232" cy="54864"/>
          </a:xfrm>
          <a:prstGeom prst="rect">
            <a:avLst/>
          </a:prstGeom>
          <a:solidFill>
            <a:srgbClr val="008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30352" y="1024128"/>
            <a:ext cx="10972800" cy="3200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5B6B79"/>
                </a:solidFill>
                <a:latin typeface="Aptos"/>
              </a:defRPr>
            </a:pPr>
            <a:r>
              <a:t>Bounded autonomy for routine tasks; human judgement for sensitive or consequential decisions.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40080" y="1554480"/>
            <a:ext cx="5349240" cy="502920"/>
          </a:xfrm>
          <a:prstGeom prst="roundRect">
            <a:avLst/>
          </a:prstGeom>
          <a:solidFill>
            <a:srgbClr val="008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31519" y="1664208"/>
            <a:ext cx="5166359" cy="25603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AUTONOMOUS WITHIN APPROVED BOUNDS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236208" y="1554480"/>
            <a:ext cx="5303520" cy="502920"/>
          </a:xfrm>
          <a:prstGeom prst="roundRect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327648" y="1664208"/>
            <a:ext cx="5120640" cy="25603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HUMAN OVERSIGHT REQUIRED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40080" y="2240280"/>
            <a:ext cx="5349240" cy="2971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40080" y="2276856"/>
            <a:ext cx="64008" cy="2898648"/>
          </a:xfrm>
          <a:prstGeom prst="rect">
            <a:avLst/>
          </a:prstGeom>
          <a:solidFill>
            <a:srgbClr val="008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04671" y="2368296"/>
            <a:ext cx="5056631" cy="310896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62D4A"/>
                </a:solidFill>
                <a:latin typeface="Aptos"/>
              </a:defRPr>
            </a:pPr>
            <a:r>
              <a:t>Routine, reversible actions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04671" y="2743200"/>
            <a:ext cx="5056631" cy="239572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A3642"/>
                </a:solidFill>
                <a:latin typeface="Aptos"/>
              </a:defRPr>
            </a:pPr>
            <a:r>
              <a:t>• Refresh risk scores on an approved schedule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2A3642"/>
                </a:solidFill>
                <a:latin typeface="Aptos"/>
              </a:defRPr>
            </a:pPr>
            <a:r>
              <a:t>• Check data quality and flag missing or conflicting fields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2A3642"/>
                </a:solidFill>
                <a:latin typeface="Aptos"/>
              </a:defRPr>
            </a:pPr>
            <a:r>
              <a:t>• Send pre-approved reminders and service messages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2A3642"/>
                </a:solidFill>
                <a:latin typeface="Aptos"/>
              </a:defRPr>
            </a:pPr>
            <a:r>
              <a:t>• Recommend next-best action from an approved playbook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2A3642"/>
                </a:solidFill>
                <a:latin typeface="Aptos"/>
              </a:defRPr>
            </a:pPr>
            <a:r>
              <a:t>• Log actions, outcomes and reasons for audit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236208" y="2240280"/>
            <a:ext cx="5303520" cy="2971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236208" y="2276856"/>
            <a:ext cx="64008" cy="2898648"/>
          </a:xfrm>
          <a:prstGeom prst="rect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400800" y="2368296"/>
            <a:ext cx="5010912" cy="310896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62D4A"/>
                </a:solidFill>
                <a:latin typeface="Aptos"/>
              </a:defRPr>
            </a:pPr>
            <a:r>
              <a:t>Sensitive or exceptional cases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400800" y="2743200"/>
            <a:ext cx="5010912" cy="239572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A3642"/>
                </a:solidFill>
                <a:latin typeface="Aptos"/>
              </a:defRPr>
            </a:pPr>
            <a:r>
              <a:t>• Approve hardship plans, waivers or payment arrangements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2A3642"/>
                </a:solidFill>
                <a:latin typeface="Aptos"/>
              </a:defRPr>
            </a:pPr>
            <a:r>
              <a:t>• Resolve disputes and correct contested customer data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2A3642"/>
                </a:solidFill>
                <a:latin typeface="Aptos"/>
              </a:defRPr>
            </a:pPr>
            <a:r>
              <a:t>• Review high-impact or low-confidence recommendations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2A3642"/>
                </a:solidFill>
                <a:latin typeface="Aptos"/>
              </a:defRPr>
            </a:pPr>
            <a:r>
              <a:t>• Approve model, threshold and policy changes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2A3642"/>
                </a:solidFill>
                <a:latin typeface="Aptos"/>
              </a:defRPr>
            </a:pPr>
            <a:r>
              <a:t>• Handle complaints, vulnerability and escalations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40080" y="5440680"/>
            <a:ext cx="10899648" cy="685800"/>
          </a:xfrm>
          <a:prstGeom prst="roundRect">
            <a:avLst/>
          </a:prstGeom>
          <a:solidFill>
            <a:srgbClr val="DD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68680" y="5596128"/>
            <a:ext cx="10469880" cy="3200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162D4A"/>
                </a:solidFill>
                <a:latin typeface="Aptos"/>
              </a:defRPr>
            </a:pPr>
            <a:r>
              <a:t>Operating rule: the agent can recommend and execute low-risk approved actions—not invent policy or make unreviewed adverse decisions.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561320" y="6510528"/>
            <a:ext cx="914400" cy="16459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r">
              <a:spcAft>
                <a:spcPts val="400"/>
              </a:spcAft>
              <a:defRPr sz="800" b="1">
                <a:solidFill>
                  <a:srgbClr val="5B6B79"/>
                </a:solidFill>
                <a:latin typeface="Aptos"/>
              </a:defRPr>
            </a:pPr>
            <a:r>
              <a:t>GELDIUM  •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502920" y="256032"/>
            <a:ext cx="11064240" cy="59436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rPr sz="2700" b="1">
                <a:solidFill>
                  <a:srgbClr val="162D4A"/>
                </a:solidFill>
                <a:latin typeface="Aptos Display"/>
              </a:rPr>
              <a:t>Responsible AI Guardrails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30352" y="932688"/>
            <a:ext cx="713232" cy="54864"/>
          </a:xfrm>
          <a:prstGeom prst="rect">
            <a:avLst/>
          </a:prstGeom>
          <a:solidFill>
            <a:srgbClr val="008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30352" y="1024128"/>
            <a:ext cx="10972800" cy="3200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5B6B79"/>
                </a:solidFill>
                <a:latin typeface="Aptos"/>
              </a:defRPr>
            </a:pPr>
            <a:r>
              <a:t>Safeguards are operational controls, not a final checklist.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594360" y="1572768"/>
            <a:ext cx="5349240" cy="1783080"/>
          </a:xfrm>
          <a:prstGeom prst="roundRect">
            <a:avLst/>
          </a:prstGeom>
          <a:solidFill>
            <a:srgbClr val="DDF3EF"/>
          </a:solidFill>
          <a:ln w="10160"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94360" y="1609344"/>
            <a:ext cx="64008" cy="1709928"/>
          </a:xfrm>
          <a:prstGeom prst="rect">
            <a:avLst/>
          </a:prstGeom>
          <a:solidFill>
            <a:srgbClr val="008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8952" y="1700784"/>
            <a:ext cx="5056631" cy="310896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400"/>
              </a:spcAft>
              <a:defRPr sz="1250" b="1">
                <a:solidFill>
                  <a:srgbClr val="162D4A"/>
                </a:solidFill>
                <a:latin typeface="Aptos"/>
              </a:defRPr>
            </a:pPr>
            <a:r>
              <a:t>FAIRNESS &amp; PROPORTIONALITY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58952" y="2075688"/>
            <a:ext cx="5056631" cy="1207007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400"/>
              </a:spcAft>
              <a:defRPr sz="1050" b="0">
                <a:solidFill>
                  <a:srgbClr val="2A3642"/>
                </a:solidFill>
                <a:latin typeface="Aptos"/>
              </a:defRPr>
            </a:pPr>
            <a:r>
              <a:t>Test error rates, recall and outcomes across relevant groups. Treat age-band patterns as exploratory; do not use age alone to target collections.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217920" y="1572768"/>
            <a:ext cx="5349240" cy="178308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217920" y="1609344"/>
            <a:ext cx="64008" cy="1709928"/>
          </a:xfrm>
          <a:prstGeom prst="rect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382512" y="1700784"/>
            <a:ext cx="5056631" cy="310896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400"/>
              </a:spcAft>
              <a:defRPr sz="1250" b="1">
                <a:solidFill>
                  <a:srgbClr val="162D4A"/>
                </a:solidFill>
                <a:latin typeface="Aptos"/>
              </a:defRPr>
            </a:pPr>
            <a:r>
              <a:t>EXPLAINABILITY &amp; CONTESTABILITY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382512" y="2075688"/>
            <a:ext cx="5056631" cy="1207007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400"/>
              </a:spcAft>
              <a:defRPr sz="1050" b="0">
                <a:solidFill>
                  <a:srgbClr val="2A3642"/>
                </a:solidFill>
                <a:latin typeface="Aptos"/>
              </a:defRPr>
            </a:pPr>
            <a:r>
              <a:t>Record key factors and reason codes for each recommendation. Give staff understandable explanations and a route to correct inaccurate data.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594360" y="3657600"/>
            <a:ext cx="5349240" cy="1783080"/>
          </a:xfrm>
          <a:prstGeom prst="roundRect">
            <a:avLst/>
          </a:prstGeom>
          <a:solidFill>
            <a:srgbClr val="FCF7EB"/>
          </a:solidFill>
          <a:ln w="10160"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594360" y="3694176"/>
            <a:ext cx="64008" cy="1709928"/>
          </a:xfrm>
          <a:prstGeom prst="rect">
            <a:avLst/>
          </a:prstGeom>
          <a:solidFill>
            <a:srgbClr val="E7A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8952" y="3785615"/>
            <a:ext cx="5056631" cy="310896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400"/>
              </a:spcAft>
              <a:defRPr sz="1250" b="1">
                <a:solidFill>
                  <a:srgbClr val="162D4A"/>
                </a:solidFill>
                <a:latin typeface="Aptos"/>
              </a:defRPr>
            </a:pPr>
            <a:r>
              <a:t>PRIVACY &amp; COMPLIANCE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58952" y="4160520"/>
            <a:ext cx="5056631" cy="1207007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400"/>
              </a:spcAft>
              <a:defRPr sz="1050" b="0">
                <a:solidFill>
                  <a:srgbClr val="2A3642"/>
                </a:solidFill>
                <a:latin typeface="Aptos"/>
              </a:defRPr>
            </a:pPr>
            <a:r>
              <a:t>Minimize data, restrict access, set retention limits and document purpose. Legal teams must confirm applicable local law and any relevant frameworks before launch.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217920" y="3657600"/>
            <a:ext cx="5349240" cy="1783080"/>
          </a:xfrm>
          <a:prstGeom prst="roundRect">
            <a:avLst/>
          </a:prstGeom>
          <a:solidFill>
            <a:srgbClr val="FAF0EE"/>
          </a:solidFill>
          <a:ln w="10160"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217920" y="3694176"/>
            <a:ext cx="64008" cy="1709928"/>
          </a:xfrm>
          <a:prstGeom prst="rect">
            <a:avLst/>
          </a:prstGeom>
          <a:solidFill>
            <a:srgbClr val="C5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82512" y="3785615"/>
            <a:ext cx="5056631" cy="310896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400"/>
              </a:spcAft>
              <a:defRPr sz="1250" b="1">
                <a:solidFill>
                  <a:srgbClr val="162D4A"/>
                </a:solidFill>
                <a:latin typeface="Aptos"/>
              </a:defRPr>
            </a:pPr>
            <a:r>
              <a:t>HUMAN CONTROL &amp; AUDIT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382512" y="4160520"/>
            <a:ext cx="5056631" cy="1207007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400"/>
              </a:spcAft>
              <a:defRPr sz="1050" b="0">
                <a:solidFill>
                  <a:srgbClr val="2A3642"/>
                </a:solidFill>
                <a:latin typeface="Aptos"/>
              </a:defRPr>
            </a:pPr>
            <a:r>
              <a:t>Require review for hardship, disputes, vulnerable customers and policy exceptions. Maintain logs, escalation paths, rollback controls and periodic independent review.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58368" y="5742432"/>
            <a:ext cx="10698480" cy="38404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C55B4C"/>
                </a:solidFill>
                <a:latin typeface="Aptos"/>
              </a:defRPr>
            </a:pPr>
            <a:r>
              <a:t>Launch gate: validate the delinquency definition, label timing and feature availability before any live use.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561320" y="6510528"/>
            <a:ext cx="914400" cy="16459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r">
              <a:spcAft>
                <a:spcPts val="400"/>
              </a:spcAft>
              <a:defRPr sz="800" b="1">
                <a:solidFill>
                  <a:srgbClr val="5B6B79"/>
                </a:solidFill>
                <a:latin typeface="Aptos"/>
              </a:defRPr>
            </a:pPr>
            <a:r>
              <a:t>GELDIUM  •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502920" y="256032"/>
            <a:ext cx="11064240" cy="59436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rPr sz="2700" b="1">
                <a:solidFill>
                  <a:srgbClr val="162D4A"/>
                </a:solidFill>
                <a:latin typeface="Aptos Display"/>
              </a:rPr>
              <a:t>Expected Business Impact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30352" y="932688"/>
            <a:ext cx="713232" cy="54864"/>
          </a:xfrm>
          <a:prstGeom prst="rect">
            <a:avLst/>
          </a:prstGeom>
          <a:solidFill>
            <a:srgbClr val="008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30352" y="1024128"/>
            <a:ext cx="10972800" cy="3200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5B6B79"/>
                </a:solidFill>
                <a:latin typeface="Aptos"/>
              </a:defRPr>
            </a:pPr>
            <a:r>
              <a:t>Measure impact in a controlled pilot; targets below are provisional hypotheses, not promised results.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40080" y="1572768"/>
            <a:ext cx="5321808" cy="4251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640080" y="1609344"/>
            <a:ext cx="64008" cy="4178808"/>
          </a:xfrm>
          <a:prstGeom prst="rect">
            <a:avLst/>
          </a:prstGeom>
          <a:solidFill>
            <a:srgbClr val="008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04671" y="1700784"/>
            <a:ext cx="5029200" cy="310896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62D4A"/>
                </a:solidFill>
                <a:latin typeface="Aptos"/>
              </a:defRPr>
            </a:pPr>
            <a:r>
              <a:t>BUSINESS KPIs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1" y="2075688"/>
            <a:ext cx="5029200" cy="367588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400"/>
              </a:spcAft>
              <a:defRPr sz="1150" b="0">
                <a:solidFill>
                  <a:srgbClr val="2A3642"/>
                </a:solidFill>
                <a:latin typeface="Aptos"/>
              </a:defRPr>
            </a:pPr>
            <a:r>
              <a:t>• Delinquency: relative change in 60-day delinquency vs. control</a:t>
            </a:r>
          </a:p>
          <a:p>
            <a:pPr algn="l">
              <a:spcAft>
                <a:spcPts val="400"/>
              </a:spcAft>
              <a:defRPr sz="1150" b="0">
                <a:solidFill>
                  <a:srgbClr val="2A3642"/>
                </a:solidFill>
                <a:latin typeface="Aptos"/>
              </a:defRPr>
            </a:pPr>
            <a:r>
              <a:t>• Repayment: on-time repayment and cure rates</a:t>
            </a:r>
          </a:p>
          <a:p>
            <a:pPr algn="l">
              <a:spcAft>
                <a:spcPts val="400"/>
              </a:spcAft>
              <a:defRPr sz="1150" b="0">
                <a:solidFill>
                  <a:srgbClr val="2A3642"/>
                </a:solidFill>
                <a:latin typeface="Aptos"/>
              </a:defRPr>
            </a:pPr>
            <a:r>
              <a:t>• Efficiency: cost per resolved account; staff time per case</a:t>
            </a:r>
          </a:p>
          <a:p>
            <a:pPr algn="l">
              <a:spcAft>
                <a:spcPts val="400"/>
              </a:spcAft>
              <a:defRPr sz="1150" b="0">
                <a:solidFill>
                  <a:srgbClr val="2A3642"/>
                </a:solidFill>
                <a:latin typeface="Aptos"/>
              </a:defRPr>
            </a:pPr>
            <a:r>
              <a:t>• Model quality: PR-AUC, recall, calibration and drift</a:t>
            </a:r>
          </a:p>
          <a:p>
            <a:pPr algn="l">
              <a:spcAft>
                <a:spcPts val="400"/>
              </a:spcAft>
              <a:defRPr sz="1150" b="0">
                <a:solidFill>
                  <a:srgbClr val="2A3642"/>
                </a:solidFill>
                <a:latin typeface="Aptos"/>
              </a:defRPr>
            </a:pPr>
            <a:r>
              <a:t>• Guardrail: no material increase in complaints or unfair group-level errors</a:t>
            </a:r>
          </a:p>
          <a:p>
            <a:pPr algn="l">
              <a:spcAft>
                <a:spcPts val="400"/>
              </a:spcAft>
              <a:defRPr sz="1150" b="0">
                <a:solidFill>
                  <a:srgbClr val="2A3642"/>
                </a:solidFill>
                <a:latin typeface="Aptos"/>
              </a:defRPr>
            </a:pPr>
          </a:p>
          <a:p>
            <a:pPr algn="l">
              <a:spcAft>
                <a:spcPts val="400"/>
              </a:spcAft>
              <a:defRPr sz="1150" b="0">
                <a:solidFill>
                  <a:srgbClr val="2A3642"/>
                </a:solidFill>
                <a:latin typeface="Aptos"/>
              </a:defRPr>
            </a:pPr>
            <a:r>
              <a:t>Pilot target: test for a 10% relative reduction in 60-day delinquency, subject to a valid baseline and sufficient sample size.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236208" y="1572768"/>
            <a:ext cx="5321808" cy="4251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236208" y="1609344"/>
            <a:ext cx="64008" cy="4178808"/>
          </a:xfrm>
          <a:prstGeom prst="rect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400800" y="1700784"/>
            <a:ext cx="5029200" cy="310896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62D4A"/>
                </a:solidFill>
                <a:latin typeface="Aptos"/>
              </a:defRPr>
            </a:pPr>
            <a:r>
              <a:t>CUSTOMER OUTCOMES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400800" y="2075688"/>
            <a:ext cx="5029200" cy="367588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400"/>
              </a:spcAft>
              <a:defRPr sz="1150" b="0">
                <a:solidFill>
                  <a:srgbClr val="2A3642"/>
                </a:solidFill>
                <a:latin typeface="Aptos"/>
              </a:defRPr>
            </a:pPr>
            <a:r>
              <a:t>• Earlier, clearer reminders with fewer irrelevant contacts</a:t>
            </a:r>
          </a:p>
          <a:p>
            <a:pPr algn="l">
              <a:spcAft>
                <a:spcPts val="400"/>
              </a:spcAft>
              <a:defRPr sz="1150" b="0">
                <a:solidFill>
                  <a:srgbClr val="2A3642"/>
                </a:solidFill>
                <a:latin typeface="Aptos"/>
              </a:defRPr>
            </a:pPr>
            <a:r>
              <a:t>• Easier access to self-service and support options</a:t>
            </a:r>
          </a:p>
          <a:p>
            <a:pPr algn="l">
              <a:spcAft>
                <a:spcPts val="400"/>
              </a:spcAft>
              <a:defRPr sz="1150" b="0">
                <a:solidFill>
                  <a:srgbClr val="2A3642"/>
                </a:solidFill>
                <a:latin typeface="Aptos"/>
              </a:defRPr>
            </a:pPr>
            <a:r>
              <a:t>• More consistent treatment and understandable reasons</a:t>
            </a:r>
          </a:p>
          <a:p>
            <a:pPr algn="l">
              <a:spcAft>
                <a:spcPts val="400"/>
              </a:spcAft>
              <a:defRPr sz="1150" b="0">
                <a:solidFill>
                  <a:srgbClr val="2A3642"/>
                </a:solidFill>
                <a:latin typeface="Aptos"/>
              </a:defRPr>
            </a:pPr>
            <a:r>
              <a:t>• Faster routing to trained staff for hardship or disputes</a:t>
            </a:r>
          </a:p>
          <a:p>
            <a:pPr algn="l">
              <a:spcAft>
                <a:spcPts val="400"/>
              </a:spcAft>
              <a:defRPr sz="1150" b="0">
                <a:solidFill>
                  <a:srgbClr val="2A3642"/>
                </a:solidFill>
                <a:latin typeface="Aptos"/>
              </a:defRPr>
            </a:pPr>
            <a:r>
              <a:t>• Greater trust through privacy, correction and appeal paths</a:t>
            </a:r>
          </a:p>
          <a:p>
            <a:pPr algn="l">
              <a:spcAft>
                <a:spcPts val="400"/>
              </a:spcAft>
              <a:defRPr sz="1150" b="0">
                <a:solidFill>
                  <a:srgbClr val="2A3642"/>
                </a:solidFill>
                <a:latin typeface="Aptos"/>
              </a:defRPr>
            </a:pPr>
          </a:p>
          <a:p>
            <a:pPr algn="l">
              <a:spcAft>
                <a:spcPts val="400"/>
              </a:spcAft>
              <a:defRPr sz="1150" b="0">
                <a:solidFill>
                  <a:srgbClr val="2A3642"/>
                </a:solidFill>
                <a:latin typeface="Aptos"/>
              </a:defRPr>
            </a:pPr>
            <a:r>
              <a:t>Success signal: improved engagement without worsening complaints, opt-outs or outcomes for any monitored group.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13232" y="5989320"/>
            <a:ext cx="10698480" cy="29260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400"/>
              </a:spcAft>
              <a:defRPr sz="1050" b="0">
                <a:solidFill>
                  <a:srgbClr val="5B6B79"/>
                </a:solidFill>
                <a:latin typeface="Aptos"/>
              </a:defRPr>
            </a:pPr>
            <a:r>
              <a:t>Evaluation design: compare pilot and control groups; monitor weekly, review at 30/60/90 days, and expand only if benefits and safeguards hold.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561320" y="6510528"/>
            <a:ext cx="914400" cy="16459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r">
              <a:spcAft>
                <a:spcPts val="400"/>
              </a:spcAft>
              <a:defRPr sz="800" b="1">
                <a:solidFill>
                  <a:srgbClr val="5B6B79"/>
                </a:solidFill>
                <a:latin typeface="Aptos"/>
              </a:defRPr>
            </a:pPr>
            <a:r>
              <a:t>GELDIUM  •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C1373-ECCB-8893-C88B-952E49559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256032"/>
            <a:ext cx="11064240" cy="594360"/>
          </a:xfrm>
        </p:spPr>
        <p:txBody>
          <a:bodyPr/>
          <a:lstStyle/>
          <a:p>
            <a:r>
              <a:rPr sz="2700" b="1">
                <a:solidFill>
                  <a:srgbClr val="162D4A"/>
                </a:solidFill>
                <a:latin typeface="Aptos Display"/>
              </a:rPr>
              <a:t>From Concept to Controlled Pilot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713232" cy="54864"/>
          </a:xfrm>
          <a:prstGeom prst="rect">
            <a:avLst/>
          </a:prstGeom>
          <a:solidFill>
            <a:srgbClr val="008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200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5B6B79"/>
                </a:solidFill>
                <a:latin typeface="Aptos"/>
              </a:defRPr>
            </a:pPr>
            <a:r>
              <a:t>Start small, validate evidence, and scale only after measurable benefit and responsible-use checks.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3" y="1600200"/>
            <a:ext cx="1417320" cy="292608"/>
          </a:xfrm>
          <a:prstGeom prst="roundRect">
            <a:avLst/>
          </a:prstGeom>
          <a:solidFill>
            <a:srgbClr val="008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" y="1632204"/>
            <a:ext cx="1362456" cy="210312"/>
          </a:xfrm>
          <a:prstGeom prst="rect">
            <a:avLst/>
          </a:prstGeom>
          <a:noFill/>
        </p:spPr>
        <p:txBody>
          <a:bodyPr wrap="square" lIns="36576" rIns="36576" tIns="27432" bIns="18288" anchor="ctr">
            <a:spAutoFit/>
          </a:bodyPr>
          <a:lstStyle/>
          <a:p>
            <a:pPr algn="ctr">
              <a:spcAft>
                <a:spcPts val="40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0–30 DAYS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2011680"/>
            <a:ext cx="2395728" cy="3063240"/>
          </a:xfrm>
          <a:prstGeom prst="roundRect">
            <a:avLst/>
          </a:prstGeom>
          <a:solidFill>
            <a:srgbClr val="DDF3EF"/>
          </a:solidFill>
          <a:ln w="10160"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2048256"/>
            <a:ext cx="64008" cy="2990088"/>
          </a:xfrm>
          <a:prstGeom prst="rect">
            <a:avLst/>
          </a:prstGeom>
          <a:solidFill>
            <a:srgbClr val="008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2139696"/>
            <a:ext cx="2103120" cy="310896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62D4A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514600"/>
            <a:ext cx="2103120" cy="248716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400"/>
              </a:spcAft>
              <a:defRPr sz="1050" b="0">
                <a:solidFill>
                  <a:srgbClr val="2A3642"/>
                </a:solidFill>
                <a:latin typeface="Aptos"/>
              </a:defRPr>
            </a:pPr>
            <a:r>
              <a:t>Confirm target definition and horizon; audit the 14 delinquent records with zero missed payments; review missingness and feature timing.</a:t>
            </a:r>
          </a:p>
        </p:txBody>
      </p:sp>
      <p:sp>
        <p:nvSpPr>
          <p:cNvPr id="11" name="Chevron 10"/>
          <p:cNvSpPr/>
          <p:nvPr/>
        </p:nvSpPr>
        <p:spPr>
          <a:xfrm>
            <a:off x="3017520" y="3154680"/>
            <a:ext cx="347472" cy="475488"/>
          </a:xfrm>
          <a:prstGeom prst="chevron">
            <a:avLst/>
          </a:prstGeom>
          <a:solidFill>
            <a:srgbClr val="DE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29584" y="1600200"/>
            <a:ext cx="1417320" cy="292608"/>
          </a:xfrm>
          <a:prstGeom prst="roundRect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57015" y="1632204"/>
            <a:ext cx="1362456" cy="210312"/>
          </a:xfrm>
          <a:prstGeom prst="rect">
            <a:avLst/>
          </a:prstGeom>
          <a:noFill/>
        </p:spPr>
        <p:txBody>
          <a:bodyPr wrap="square" lIns="36576" rIns="36576" tIns="27432" bIns="18288" anchor="ctr">
            <a:spAutoFit/>
          </a:bodyPr>
          <a:lstStyle/>
          <a:p>
            <a:pPr algn="ctr">
              <a:spcAft>
                <a:spcPts val="40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31–60 DAYS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2011680"/>
            <a:ext cx="2395728" cy="306324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56432" y="2048256"/>
            <a:ext cx="64008" cy="2990088"/>
          </a:xfrm>
          <a:prstGeom prst="rect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139696"/>
            <a:ext cx="2103120" cy="310896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62D4A"/>
                </a:solidFill>
                <a:latin typeface="Aptos"/>
              </a:defRPr>
            </a:pPr>
            <a:r>
              <a:t>BUILD &amp;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1024" y="2514600"/>
            <a:ext cx="2103120" cy="248716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400"/>
              </a:spcAft>
              <a:defRPr sz="1050" b="0">
                <a:solidFill>
                  <a:srgbClr val="2A3642"/>
                </a:solidFill>
                <a:latin typeface="Aptos"/>
              </a:defRPr>
            </a:pPr>
            <a:r>
              <a:t>Create a leakage-safe baseline; compare logistic regression with a challenger; validate calibration, precision/recall and fairness.</a:t>
            </a:r>
          </a:p>
        </p:txBody>
      </p:sp>
      <p:sp>
        <p:nvSpPr>
          <p:cNvPr id="18" name="Chevron 17"/>
          <p:cNvSpPr/>
          <p:nvPr/>
        </p:nvSpPr>
        <p:spPr>
          <a:xfrm>
            <a:off x="5943600" y="3154680"/>
            <a:ext cx="347472" cy="475488"/>
          </a:xfrm>
          <a:prstGeom prst="chevron">
            <a:avLst/>
          </a:prstGeom>
          <a:solidFill>
            <a:srgbClr val="DE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55664" y="1600200"/>
            <a:ext cx="1417320" cy="292608"/>
          </a:xfrm>
          <a:prstGeom prst="roundRect">
            <a:avLst/>
          </a:prstGeom>
          <a:solidFill>
            <a:srgbClr val="E7A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3096" y="1632204"/>
            <a:ext cx="1362456" cy="210312"/>
          </a:xfrm>
          <a:prstGeom prst="rect">
            <a:avLst/>
          </a:prstGeom>
          <a:noFill/>
        </p:spPr>
        <p:txBody>
          <a:bodyPr wrap="square" lIns="36576" rIns="36576" tIns="27432" bIns="18288" anchor="ctr">
            <a:spAutoFit/>
          </a:bodyPr>
          <a:lstStyle/>
          <a:p>
            <a:pPr algn="ctr">
              <a:spcAft>
                <a:spcPts val="40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61–90 DAYS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82512" y="2011680"/>
            <a:ext cx="2395728" cy="3063240"/>
          </a:xfrm>
          <a:prstGeom prst="roundRect">
            <a:avLst/>
          </a:prstGeom>
          <a:solidFill>
            <a:srgbClr val="FCF7EB"/>
          </a:solidFill>
          <a:ln w="10160"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82512" y="2048256"/>
            <a:ext cx="64008" cy="2990088"/>
          </a:xfrm>
          <a:prstGeom prst="rect">
            <a:avLst/>
          </a:prstGeom>
          <a:solidFill>
            <a:srgbClr val="E7A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47104" y="2139696"/>
            <a:ext cx="2103120" cy="310896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62D4A"/>
                </a:solidFill>
                <a:latin typeface="Aptos"/>
              </a:defRPr>
            </a:pPr>
            <a:r>
              <a:t>PILOT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4" y="2514600"/>
            <a:ext cx="2103120" cy="248716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400"/>
              </a:spcAft>
              <a:defRPr sz="1050" b="0">
                <a:solidFill>
                  <a:srgbClr val="2A3642"/>
                </a:solidFill>
                <a:latin typeface="Aptos"/>
              </a:defRPr>
            </a:pPr>
            <a:r>
              <a:t>Run a controlled, human-supervised pilot with approved outreach; track 30/60-day outcomes, complaints and staff overrides.</a:t>
            </a:r>
          </a:p>
        </p:txBody>
      </p:sp>
      <p:sp>
        <p:nvSpPr>
          <p:cNvPr id="25" name="Chevron 24"/>
          <p:cNvSpPr/>
          <p:nvPr/>
        </p:nvSpPr>
        <p:spPr>
          <a:xfrm>
            <a:off x="8869680" y="3154680"/>
            <a:ext cx="347472" cy="475488"/>
          </a:xfrm>
          <a:prstGeom prst="chevron">
            <a:avLst/>
          </a:prstGeom>
          <a:solidFill>
            <a:srgbClr val="DE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381744" y="1600200"/>
            <a:ext cx="1417320" cy="292608"/>
          </a:xfrm>
          <a:prstGeom prst="roundRect">
            <a:avLst/>
          </a:prstGeom>
          <a:solidFill>
            <a:srgbClr val="C5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09176" y="1632204"/>
            <a:ext cx="1362456" cy="210312"/>
          </a:xfrm>
          <a:prstGeom prst="rect">
            <a:avLst/>
          </a:prstGeom>
          <a:noFill/>
        </p:spPr>
        <p:txBody>
          <a:bodyPr wrap="square" lIns="36576" rIns="36576" tIns="27432" bIns="18288" anchor="ctr">
            <a:spAutoFit/>
          </a:bodyPr>
          <a:lstStyle/>
          <a:p>
            <a:pPr algn="ctr">
              <a:spcAft>
                <a:spcPts val="40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AFTER PILOT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8592" y="2011680"/>
            <a:ext cx="2395728" cy="3063240"/>
          </a:xfrm>
          <a:prstGeom prst="roundRect">
            <a:avLst/>
          </a:prstGeom>
          <a:solidFill>
            <a:srgbClr val="FAF0EE"/>
          </a:solidFill>
          <a:ln w="10160"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308592" y="2048256"/>
            <a:ext cx="64008" cy="2990088"/>
          </a:xfrm>
          <a:prstGeom prst="rect">
            <a:avLst/>
          </a:prstGeom>
          <a:solidFill>
            <a:srgbClr val="C5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73184" y="2139696"/>
            <a:ext cx="2103120" cy="310896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62D4A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73184" y="2514600"/>
            <a:ext cx="2103120" cy="248716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400"/>
              </a:spcAft>
              <a:defRPr sz="1050" b="0">
                <a:solidFill>
                  <a:srgbClr val="2A3642"/>
                </a:solidFill>
                <a:latin typeface="Aptos"/>
              </a:defRPr>
            </a:pPr>
            <a:r>
              <a:t>Independent review of results and harms; document go/no-go decision; monitor drift and retain rollback capability.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5394960"/>
            <a:ext cx="10881360" cy="65836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62D4A"/>
                </a:solidFill>
                <a:latin typeface="Aptos"/>
              </a:defRPr>
            </a:pPr>
            <a:r>
              <a:t>Non-negotiable: the current dataset is small (500 records) and exploratory findings are not proof of causation. No production deployment until labels, data quality, performance and fairness are validated.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" y="6108192"/>
            <a:ext cx="1874519" cy="292608"/>
          </a:xfrm>
          <a:prstGeom prst="roundRect">
            <a:avLst/>
          </a:prstGeom>
          <a:solidFill>
            <a:srgbClr val="C5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" y="6140196"/>
            <a:ext cx="1819655" cy="210312"/>
          </a:xfrm>
          <a:prstGeom prst="rect">
            <a:avLst/>
          </a:prstGeom>
          <a:noFill/>
        </p:spPr>
        <p:txBody>
          <a:bodyPr wrap="square" lIns="36576" rIns="36576" tIns="27432" bIns="18288" anchor="ctr">
            <a:spAutoFit/>
          </a:bodyPr>
          <a:lstStyle/>
          <a:p>
            <a:pPr algn="ctr">
              <a:spcAft>
                <a:spcPts val="40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VALIDATE BEFORE SCALE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61320" y="6510528"/>
            <a:ext cx="914400" cy="16459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r">
              <a:spcAft>
                <a:spcPts val="400"/>
              </a:spcAft>
              <a:defRPr sz="800" b="1">
                <a:solidFill>
                  <a:srgbClr val="5B6B79"/>
                </a:solidFill>
                <a:latin typeface="Aptos"/>
              </a:defRPr>
            </a:pPr>
            <a:r>
              <a:t>GELDIUM  •  06</a:t>
            </a:r>
          </a:p>
        </p:txBody>
      </p:sp>
    </p:spTree>
    <p:extLst>
      <p:ext uri="{BB962C8B-B14F-4D97-AF65-F5344CB8AC3E}">
        <p14:creationId xmlns:p14="http://schemas.microsoft.com/office/powerpoint/2010/main" val="890219242"/>
      </p:ext>
    </p:extLst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473</Words>
  <Application>Microsoft Macintosh PowerPoint</Application>
  <PresentationFormat>On-screen Show (16:9)</PresentationFormat>
  <Paragraphs>36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Roboto Slab</vt:lpstr>
      <vt:lpstr>Roboto</vt:lpstr>
      <vt:lpstr>Marina</vt:lpstr>
      <vt:lpstr>AI-Powered Collections Strategy</vt:lpstr>
      <vt:lpstr>How the System Works</vt:lpstr>
      <vt:lpstr>Role of Agentic AI</vt:lpstr>
      <vt:lpstr>Responsible AI Guardrails</vt:lpstr>
      <vt:lpstr>Expected Business Impact</vt:lpstr>
      <vt:lpstr>[Feel free to add more slides throughout]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Tran, Tammy</cp:lastModifiedBy>
  <cp:revision>2</cp:revision>
  <dcterms:modified xsi:type="dcterms:W3CDTF">2025-04-29T13:27:36Z</dcterms:modified>
</cp:coreProperties>
</file>